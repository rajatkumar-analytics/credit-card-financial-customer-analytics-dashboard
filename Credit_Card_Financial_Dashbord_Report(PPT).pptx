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81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2606040"/>
          </a:xfrm>
          <a:prstGeom prst="rect">
            <a:avLst/>
          </a:prstGeom>
          <a:solidFill>
            <a:srgbClr val="1A3A5C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02772"/>
            <a:ext cx="8046720" cy="874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chemeClr val="bg1">
                    <a:lumMod val="95000"/>
                  </a:schemeClr>
                </a:solidFill>
              </a:rPr>
              <a:t>Credit Card Financial &amp; Customer Analytics 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Transaction &amp; Customer Analysis  |  PostgreSQL  ·  Power BI  ·  DAX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1920240" cy="713232"/>
          </a:xfrm>
          <a:prstGeom prst="rect">
            <a:avLst/>
          </a:prstGeom>
          <a:solidFill>
            <a:srgbClr val="102A4C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87168" y="4206240"/>
            <a:ext cx="1920240" cy="713232"/>
          </a:xfrm>
          <a:prstGeom prst="rect">
            <a:avLst/>
          </a:prstGeom>
          <a:solidFill>
            <a:srgbClr val="102A4C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87168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87168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4206240"/>
            <a:ext cx="1920240" cy="713232"/>
          </a:xfrm>
          <a:prstGeom prst="rect">
            <a:avLst/>
          </a:prstGeom>
          <a:solidFill>
            <a:srgbClr val="102A4C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$576M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8576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9984" y="4206240"/>
            <a:ext cx="1920240" cy="713232"/>
          </a:xfrm>
          <a:prstGeom prst="rect">
            <a:avLst/>
          </a:prstGeom>
          <a:solidFill>
            <a:srgbClr val="102A4C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9984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3.19/5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9984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91947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  ·  GitHub Ready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64008" cy="4160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Credit Card Analytics solution to help business stakeholders monitor revenue, customer behaviour, and transaction patterns on a weekly basis.
Two Power BI dashboards were created: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Transaction Report – card &amp; spend-level metrics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Customer Report – demographic &amp; income-level metrics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end-to-end data analyst skills: SQL ingestion → data modelling → DAX engineering → visual storytelling.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04672"/>
            <a:ext cx="64008" cy="4160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8961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 Stack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19472" y="1353312"/>
            <a:ext cx="3858768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353312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399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7007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ingestion via COPY command; schema design with 2 normalized tables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19472" y="2231136"/>
            <a:ext cx="3858768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9472" y="2231136"/>
            <a:ext cx="6400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2768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5786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interactive dashboards with slicers, KPI cards &amp; charts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19472" y="3108960"/>
            <a:ext cx="3858768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19472" y="3108960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34564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formula, Age Group &amp; Income Group calculated columns; WEEKNUM measure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19472" y="3986784"/>
            <a:ext cx="3858768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3986784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4032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433425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cc_add.csv (transactions) and cust_add.csv (customer demographics)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Credit Card Customer Report (All Customers)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8368"/>
            <a:ext cx="8814816" cy="39776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64592" y="4736592"/>
            <a:ext cx="8814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· Credit Card Customer Report · Full dataset (All weeks, All genders)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 — KEY INSIGHTS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777240"/>
            <a:ext cx="3886200" cy="1755648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56032" y="804672"/>
            <a:ext cx="4389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804672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896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Dominated by Blue-Collar &amp; Govt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" y="126187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Blue-collar ($6.9M) and Govt ($8.1M) job categories drive the most revenue. Despite lower income brackets, high transaction frequency makes these segments the backbone of card revenue.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28032" y="804672"/>
            <a:ext cx="40416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804672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92624" y="896112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TX, NY, CA Lead with ~$6-7M Each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92624" y="1261872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states each generate $6-7M in revenue. Geographic concentration suggests opportunity for targeted marketing and premium card upsell in these regions.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" y="2304288"/>
            <a:ext cx="4389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2304288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" y="23957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💍  Married Customers Generate More Revenue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0624" y="276148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Married segment: $13M vs Singles: $11M. Higher household spending needs and joint financial obligations push married customers toward higher card utilization.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8032" y="2304288"/>
            <a:ext cx="40416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28032" y="2304288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92624" y="239572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40-50 Age Group is the Sweet Spot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92624" y="2761488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40-50 age cohort ($11M female + $14M male) outperforms all others. This group balances high income, stable employment, and established spending habits — ideal for premium card offers.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6032" y="3803904"/>
            <a:ext cx="4389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56032" y="3803904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" y="3895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2-Dependent Households Spend the Most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0624" y="4261104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2 dependents generate the highest revenue tier. Family financial obligations increase card usage for groceries, fuel, education, and EMI payments.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28032" y="3803904"/>
            <a:ext cx="40416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28032" y="3803904"/>
            <a:ext cx="64008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92624" y="3895344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Satisfaction Score Stable at 3.19-3.20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92624" y="4261104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satisfaction across gender segments (3.19 vs 3.20) suggests service parity — positive for retention, but headroom exists to push score above 4.0 through targeted benefits.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Gender Comparison: Female vs Male Customer Segments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" y="6583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🚺  Female Segment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87552"/>
            <a:ext cx="4297680" cy="193852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4663440" y="658368"/>
            <a:ext cx="4315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🚹  Male Segment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87552"/>
            <a:ext cx="4315968" cy="1938528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8" name="Shape 4"/>
          <p:cNvSpPr/>
          <p:nvPr/>
        </p:nvSpPr>
        <p:spPr>
          <a:xfrm>
            <a:off x="164592" y="2999232"/>
            <a:ext cx="8814816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56032" y="29992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9184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🚺  FEMALE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126480" y="29992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🚹  MALE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64592" y="3383280"/>
            <a:ext cx="8814816" cy="365760"/>
          </a:xfrm>
          <a:prstGeom prst="rect">
            <a:avLst/>
          </a:prstGeom>
          <a:solidFill>
            <a:srgbClr val="102A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56032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918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1264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64592" y="3767328"/>
            <a:ext cx="8814816" cy="365760"/>
          </a:xfrm>
          <a:prstGeom prst="rect">
            <a:avLst/>
          </a:prstGeom>
          <a:solidFill>
            <a:srgbClr val="1A3A5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6032" y="3767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Earned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91840" y="3767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$3.6M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126480" y="3767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$7.8M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64592" y="4151376"/>
            <a:ext cx="8814816" cy="365760"/>
          </a:xfrm>
          <a:prstGeom prst="rect">
            <a:avLst/>
          </a:prstGeom>
          <a:solidFill>
            <a:srgbClr val="102A4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6032" y="41513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Income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291840" y="41513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$229M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126480" y="41513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$576M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164592" y="4535424"/>
            <a:ext cx="8814816" cy="365760"/>
          </a:xfrm>
          <a:prstGeom prst="rect">
            <a:avLst/>
          </a:prstGeom>
          <a:solidFill>
            <a:srgbClr val="1A3A5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6032" y="45354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291840" y="45354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126480" y="45354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Credit Card Transaction Report (Full Dataset  ·  All Cards)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8368"/>
            <a:ext cx="8814816" cy="397764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64592" y="4736592"/>
            <a:ext cx="8814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· Credit Card Transaction Report · Full dataset (All card categories, All weeks)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DASHBOARD — KEY INSIGHTS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777240"/>
            <a:ext cx="3886200" cy="1755648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56032" y="804672"/>
            <a:ext cx="4389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804672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0624" y="89611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Blue Card Dominates at $46M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0624" y="1261872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card holders generate 84% of total revenue ($46M of $55M). This entry-level card has the widest user base, making it the single most important product segment to monitor and grow.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828032" y="804672"/>
            <a:ext cx="40416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804672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92624" y="896112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Businessmen Lead by Profession ($17M)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92624" y="1261872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 generate $17M in revenue — almost double White-collar ($10M). High-spend, low-risk profile makes this segment ideal for premium card migration and rewards upsell.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" y="2304288"/>
            <a:ext cx="4389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" y="2304288"/>
            <a:ext cx="64008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" y="23957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Graduate Customers Spend the Most ($22M)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20624" y="276148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contribute $22M, nearly double High School ($11M). Education level strongly predicts credit capacity and spending sophistication. Targeting post-grads for premium tiers makes strategic sense.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8032" y="2304288"/>
            <a:ext cx="40416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28032" y="2304288"/>
            <a:ext cx="64008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92624" y="2395728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Bills &amp; Food are Top Spend Categories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992624" y="2761488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($14M) and Food ($8M) are non-discretionary categories that dominate spend. These are 'sticky' expenditures that drive consistent transaction activity and revolving balance.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6032" y="3803904"/>
            <a:ext cx="43891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56032" y="3803904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0624" y="389534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Swipe Transactions Drive 64% of Revenue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20624" y="4261104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($35M) massively outperforms Chip ($17M) and Online ($3M). Low online adoption suggests an opportunity to push digital channels with cashback incentives.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28032" y="3803904"/>
            <a:ext cx="40416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828032" y="3803904"/>
            <a:ext cx="64008" cy="1325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92624" y="3895344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Q3 Peak: Highest Revenue &amp; Transaction Count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992624" y="4261104"/>
            <a:ext cx="37673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shows the highest revenue ($14.2M) and transaction count (166.6K). Summer spending on travel, entertainment, and back-to-school drives the seasonal spike — timing campaigns to Q3 maximizes ROI.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Weekly Drill-Down Filter in Action (Jan 2023 Sample)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658368"/>
            <a:ext cx="8814816" cy="347472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56032" y="4251960"/>
            <a:ext cx="2743200" cy="713232"/>
          </a:xfrm>
          <a:prstGeom prst="rect">
            <a:avLst/>
          </a:prstGeom>
          <a:solidFill>
            <a:srgbClr val="102A4C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56032" y="4270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Available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6032" y="4526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Jan – 29 Jan 2023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(weekly slicing)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27832" y="4251960"/>
            <a:ext cx="2743200" cy="713232"/>
          </a:xfrm>
          <a:prstGeom prst="rect">
            <a:avLst/>
          </a:prstGeom>
          <a:solidFill>
            <a:srgbClr val="102A4C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27832" y="4270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Revenue Snapshot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4526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$29M total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$4.3M interest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9632" y="4251960"/>
            <a:ext cx="2743200" cy="713232"/>
          </a:xfrm>
          <a:prstGeom prst="rect">
            <a:avLst/>
          </a:prstGeom>
          <a:solidFill>
            <a:srgbClr val="102A4C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99632" y="4270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Transaction Count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99632" y="45262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260K transactions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$24.1M amount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SCHEMA DESIGN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55448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04672"/>
            <a:ext cx="1554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595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cc_add.csv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cust_add.csv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83080" y="1078992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84248" y="804672"/>
            <a:ext cx="155448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84248" y="804672"/>
            <a:ext cx="1554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8595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84248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84248" y="16642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command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38728" y="1078992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39896" y="804672"/>
            <a:ext cx="155448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804672"/>
            <a:ext cx="1554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8595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39896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39896" y="16642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PG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294376" y="1078992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95544" y="804672"/>
            <a:ext cx="155448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95544" y="804672"/>
            <a:ext cx="1554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95544" y="8595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95544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95544" y="16642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Revenue, Groups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WEEKNUM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50024" y="1078992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51192" y="804672"/>
            <a:ext cx="1554480" cy="1371600"/>
          </a:xfrm>
          <a:prstGeom prst="rect">
            <a:avLst/>
          </a:prstGeom>
          <a:solidFill>
            <a:srgbClr val="1A3A5C"/>
          </a:solidFill>
          <a:ln w="1905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51192" y="804672"/>
            <a:ext cx="1554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8595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51192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51192" y="16642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Reports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2331720"/>
            <a:ext cx="4206240" cy="2633472"/>
          </a:xfrm>
          <a:prstGeom prst="rect">
            <a:avLst/>
          </a:prstGeom>
          <a:solidFill>
            <a:srgbClr val="1A3A5C"/>
          </a:solidFill>
          <a:ln w="1905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7472" y="2395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TABLE 1: cc_details  (Transactions)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" y="27889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client_num (PK/FK)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card_category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annual_fees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activation_30_days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customer_acq_cost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credit_limit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total_revolving_bal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total_trans_amt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total_trans_ct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avg_utilization_ratio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interest_earned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delinquent_acc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use_chip, exp_type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331720"/>
            <a:ext cx="4206240" cy="2633472"/>
          </a:xfrm>
          <a:prstGeom prst="rect">
            <a:avLst/>
          </a:prstGeom>
          <a:solidFill>
            <a:srgbClr val="1A3A5C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28032" y="23957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📋  TABLE 2: cc_customers  (Demographics)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28032" y="27889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Client_Num (PK/JOIN)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Customer_Age → age_group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Gender, Marital_Status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Education_Level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Customer_Job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 → income_group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Dependent_Count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state_cd, Zipcode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Car_Owner, House_Owner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Personal_loan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</a:t>
            </a:r>
            <a:endParaRPr lang="en-US" sz="9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Cust_Satisfaction_Score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TRANSFORMATIONS  (Power BI Calculated Columns &amp; Measures)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20574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Measure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" y="1298448"/>
            <a:ext cx="1920240" cy="19019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53312"/>
            <a:ext cx="18288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annual_fees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interest_earned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total_trans_amt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1752" y="3255264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3649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Insight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36393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3 income streams into 1 KPI: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income + Interest income + Spend volume.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weekly P&amp;L monitoring.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41448" y="777240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41448" y="777240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896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Column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1298448"/>
            <a:ext cx="1920240" cy="19019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353312"/>
            <a:ext cx="18288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 = SWITCH(TRUE(),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&lt; 30, "20-30",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&lt; 40, "30-40",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&lt; 50, "40-50",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&lt; 60, "50-60",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"60+")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3255264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33649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Insight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2888" y="36393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10,000+ customers into 5 cohorts.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cohort analysis and targeted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product/limit strategy per age band.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54296" y="777240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777240"/>
            <a:ext cx="20574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896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Group Column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27448" y="1298448"/>
            <a:ext cx="1920240" cy="19019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353312"/>
            <a:ext cx="18288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income_group = SWITCH(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TRUE(),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income &lt; 35000,  "Low",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income &lt; 70000,  "Med",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income &gt;= 70000, "High"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27448" y="3255264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3649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Insight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45736" y="36393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segmentation for credit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personalised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&amp; offer recommendations.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67144" y="777240"/>
            <a:ext cx="2057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67144" y="777240"/>
            <a:ext cx="20574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58584" y="8961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Number Measure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40296" y="1298448"/>
            <a:ext cx="1920240" cy="19019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86016" y="1353312"/>
            <a:ext cx="182880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week_num2 = WEEKNUM(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cc_details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[week_start_date]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.[Date]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40296" y="3255264"/>
            <a:ext cx="1920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58584" y="33649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Insight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58584" y="3639312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weekly dates to ISO week numbers.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Week-wise filter slicer for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trend tracking across 52 weeks.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ANALYST WORKFLOW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777240"/>
            <a:ext cx="65836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8229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Data Sourcing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business need: stakeholders needed weekly visibility into credit card revenue, customer demographics, and spend patterns. Sourced raw CSVs: cc_add.csv (transaction-level) and cust_add.csv (customer-level).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627632"/>
            <a:ext cx="86868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627632"/>
            <a:ext cx="658368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27632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16733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Design &amp; Ingestion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19751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2 normalized tables (cc_details &amp; cc_customers) with correct data types. Used PostgreSQL's COPY command for bulk ingestion. Validated data integrity with SELECT * queries. Tables joined via client_num.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78024"/>
            <a:ext cx="86868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478024"/>
            <a:ext cx="65836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478024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25237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Connection &amp; Data Modelling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282549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Power BI Desktop to PostgreSQL via native connector. Created table relationships. Defined data model structure to support cross-table filtering across card categories, customer demographics, and 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328416"/>
            <a:ext cx="86868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328416"/>
            <a:ext cx="65836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328416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33741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Engineering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 calculated columns/measures: Revenue (3-stream aggregation), Age Group (5 cohorts via SWITCH), Income Group (3 tiers), and Week Number (WEEKNUM for the time-slicer). Validated outputs against source data.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4178808"/>
            <a:ext cx="86868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4178808"/>
            <a:ext cx="65836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178808"/>
            <a:ext cx="6583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5840" y="4224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&amp; Visualisation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2 dashboards: (1) Transaction Report — card-level, spend-category, and profession-level views; (2) Customer Report — demographic, geographic, and satisfaction views. Both feature Week-wise &amp; Quarter slicers for interactivity.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 FOR STAKEHOLDERS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40-50 Age Cohort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age band. Offer premium Blue→Gold/Platinum upgrade campaigns with reward multipliers on Bills and Travel.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80467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804672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914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1353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to Businessmen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$17M revenue already. This segment has capacity for higher limits and Platinum card benefits — lowest churn risk.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82512" y="804672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804672"/>
            <a:ext cx="27889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9144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135331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Deep-Dive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71907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TX, NY, CA already dominant. Investigate NJ ($3M) underperformance — is it market size or product-market fit?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83464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834640"/>
            <a:ext cx="2788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94436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383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Online Transactions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contributes only $3M vs Swipe $35M. Launch cashback incentives for online spend to improve digital adoption.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19272" y="283464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2834640"/>
            <a:ext cx="2788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294436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429000" y="3383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Delinquency Closely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749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customers with high utilization ratios (&gt;70%) are most at risk. Weekly delinquent_acc flag monitoring can reduce write-offs.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82512" y="2834640"/>
            <a:ext cx="278892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2834640"/>
            <a:ext cx="2788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944368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33832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Campaign Planning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7490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is the annual revenue peak. Align marketing spend, credit limit reviews, and product launches to maximise seasonal uplift.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Financial &amp; Customer Analytics Dashboard  ·  PostgreSQL  ·  Power BI  ·  DAX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359152"/>
            <a:ext cx="512064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514600"/>
            <a:ext cx="694944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2569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82091" y="2569464"/>
            <a:ext cx="56817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https://github.com/rajatkumar-analytics/Credit-Card-Financial-Customer-Analytics-Dashboard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282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28269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1645</Words>
  <Application>Microsoft Office PowerPoint</Application>
  <PresentationFormat>On-screen Show (16:9)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Financial Dashboard – Portfolio Project</dc:title>
  <dc:subject>PptxGenJS Presentation</dc:subject>
  <dc:creator>Data Analyst</dc:creator>
  <cp:lastModifiedBy>Rajat Analytics</cp:lastModifiedBy>
  <cp:revision>2</cp:revision>
  <dcterms:created xsi:type="dcterms:W3CDTF">2026-05-17T18:20:16Z</dcterms:created>
  <dcterms:modified xsi:type="dcterms:W3CDTF">2026-05-17T20:46:15Z</dcterms:modified>
</cp:coreProperties>
</file>